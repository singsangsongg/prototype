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·  ALIGN  · 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Selling outcomes,
</a:t>
            </a:r>
            <a:pPr indent="0" marL="0">
              <a:buNone/>
            </a:pPr>
            <a:r>
              <a:rPr lang="en-US" sz="6400" b="1" i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services.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operating model for retail media 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617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work we already do, scaled by the people we don't need to add.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5623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6053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 상태를 정확히 측정한다.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5623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Prescribe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6053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단계에 맞는 처방을 조합한다.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5349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5623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29600" y="6053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안에서 실행·소통을 통합한다.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TENSION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이분법으로는 풀리지 않는다.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media에서 "에이전시냐, SaaS냐"는 잘못된 질문입니다.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34924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329184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AGENCY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사람 비례 성장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인력에 비례한 매출 — margin 압축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고객마다 커스텀 작업 폭주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한 명이 5-10개 브랜드가 한계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자산이 사람 머릿속에 갇힘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55080" y="2331720"/>
            <a:ext cx="5349240" cy="329184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331720"/>
            <a:ext cx="73152" cy="329184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SaaS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0840" y="2788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후 침묵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20840" y="34290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못 쓰면 즉시 churn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media는 "해석"이 핵심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안 나오면 90일 내 이탈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CS·전략 부재 → 단순 dashboard화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retail media에서는 어느 한쪽만으로도, 단순한 합으로도 성장이 멈춥니다.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REAL QUESTION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진짜 질문은 따로 있다.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4864" cy="18288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94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고객은 </a:t>
            </a:r>
            <a:pPr indent="0" marL="0">
              <a:buNone/>
            </a:pPr>
            <a:r>
              <a:rPr lang="en-US" sz="3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"에이전시"</a:t>
            </a:r>
            <a:pPr indent="0" marL="0">
              <a:buNone/>
            </a:pPr>
            <a:r>
              <a:rPr lang="en-US" sz="3000" dirty="0">
                <a:solidFill>
                  <a:srgbClr val="394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 </a:t>
            </a:r>
            <a:pPr indent="0" marL="0">
              <a:buNone/>
            </a:pPr>
            <a:r>
              <a:rPr lang="en-US" sz="3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"SaaS"</a:t>
            </a:r>
            <a:pPr indent="0" marL="0">
              <a:buNone/>
            </a:pPr>
            <a:r>
              <a:rPr lang="en-US" sz="3000" dirty="0">
                <a:solidFill>
                  <a:srgbClr val="394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
사고 싶어하지 않는다.
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394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그들이 사고 싶은 건 </a:t>
            </a:r>
            <a:pPr indent="0" marL="0">
              <a:buNone/>
            </a:pPr>
            <a:r>
              <a:rPr lang="en-US" sz="3000" b="1" i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성과</a:t>
            </a:r>
            <a:pPr indent="0" marL="0">
              <a:buNone/>
            </a:pPr>
            <a:r>
              <a:rPr lang="en-US" sz="3000" dirty="0">
                <a:solidFill>
                  <a:srgbClr val="3945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다.</a:t>
            </a:r>
            <a:endParaRPr lang="en-US" sz="3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251960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고객은 도구가 아닌 결과를 산다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120640" y="416052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"AMC 분석을 하고 싶다", "DSP audience를 만들고 싶다" — 기능 단위 needs는 명확하지만, full managed service까지는 원하지 않는다.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9651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48737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 만큼만 사고 싶다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120640" y="48737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고객은 시딩이, 어떤 고객은 AMC가, 어떤 고객은 RTB만 필요하다. 한 묶음으로 강제로 사야 하는 구조에 피로감을 느낀다.</a:t>
            </a:r>
            <a:endParaRPr lang="en-US" sz="11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6784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" y="55869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전환기의 한국 브랜드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120640" y="55869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뷰티사를 중심으로 "에이전시 외주 → 직접 운영"으로 옮겨가는 흐름. 외주를 줄이되, 운영 능력은 보강하고 싶어 한다.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THE INSIGHT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우리가 진짜 파는 것.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8D1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에이전시도, SaaS도 아니다.
</a:t>
            </a:r>
            <a:pPr indent="0" marL="0">
              <a:buNone/>
            </a:pPr>
            <a:r>
              <a:rPr lang="en-US" sz="2400" b="1" i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 as a Service</a:t>
            </a:r>
            <a:pPr indent="0" marL="0">
              <a:buNone/>
            </a:pPr>
            <a:r>
              <a:rPr lang="en-US" sz="2400" dirty="0">
                <a:solidFill>
                  <a:srgbClr val="C8D1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indent="0" marL="0">
              <a:buNone/>
            </a:pPr>
            <a:r>
              <a:rPr lang="en-US" sz="2400" dirty="0">
                <a:solidFill>
                  <a:srgbClr val="C8D1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고객의 성장 단계에 필요한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기능(Function)</a:t>
            </a:r>
            <a:pPr indent="0" marL="0">
              <a:buNone/>
            </a:pPr>
            <a:r>
              <a:rPr lang="en-US" sz="2400" dirty="0">
                <a:solidFill>
                  <a:srgbClr val="C8D1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만 사고팔게 한다.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3703320" cy="260604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886200"/>
            <a:ext cx="548640" cy="548640"/>
          </a:xfrm>
          <a:prstGeom prst="ellipse">
            <a:avLst/>
          </a:prstGeom>
          <a:solidFill>
            <a:srgbClr val="FFE6E3"/>
          </a:solidFill>
          <a:ln w="12700">
            <a:solidFill>
              <a:srgbClr val="FFE6E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776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508760" y="416052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A2847"/>
                </a:solidFill>
              </a:rPr>
              <a:t>D I A G N O S E</a:t>
            </a:r>
            <a:endParaRPr lang="en-US" sz="100" dirty="0"/>
          </a:p>
        </p:txBody>
      </p:sp>
      <p:sp>
        <p:nvSpPr>
          <p:cNvPr id="14" name="Text 11"/>
          <p:cNvSpPr/>
          <p:nvPr/>
        </p:nvSpPr>
        <p:spPr>
          <a:xfrm>
            <a:off x="822960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진단으로 시작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메뉴판에서 고르지 않는다. 우리가 현 상태와 병목을 측정하고 가장 임팩트 있는 처방을 추천한다.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61688" y="3657600"/>
            <a:ext cx="3703320" cy="260604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27448" y="3886200"/>
            <a:ext cx="548640" cy="548640"/>
          </a:xfrm>
          <a:prstGeom prst="ellipse">
            <a:avLst/>
          </a:prstGeom>
          <a:solidFill>
            <a:srgbClr val="FFE6E3"/>
          </a:solidFill>
          <a:ln w="12700">
            <a:solidFill>
              <a:srgbClr val="FFE6E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397764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13248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413248" y="416052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A2847"/>
                </a:solidFill>
              </a:rPr>
              <a:t>P R E S C R I B E</a:t>
            </a:r>
            <a:endParaRPr lang="en-US" sz="100" dirty="0"/>
          </a:p>
        </p:txBody>
      </p:sp>
      <p:sp>
        <p:nvSpPr>
          <p:cNvPr id="21" name="Text 17"/>
          <p:cNvSpPr/>
          <p:nvPr/>
        </p:nvSpPr>
        <p:spPr>
          <a:xfrm>
            <a:off x="4727448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기능 단위로 조합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727448" y="5120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RTB, DSP, AMC, Creative, 시딩 — 각각 독립 agent. 고객이 본인 단계에 맞게 필요한 것만 켠다.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66176" y="3657600"/>
            <a:ext cx="3703320" cy="260604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631936" y="3886200"/>
            <a:ext cx="548640" cy="548640"/>
          </a:xfrm>
          <a:prstGeom prst="ellipse">
            <a:avLst/>
          </a:prstGeom>
          <a:solidFill>
            <a:srgbClr val="FFE6E3"/>
          </a:solidFill>
          <a:ln w="12700">
            <a:solidFill>
              <a:srgbClr val="FFE6E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76" y="397764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317736" y="39502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9317736" y="4160520"/>
            <a:ext cx="2560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1A2847"/>
                </a:solidFill>
              </a:rPr>
              <a:t>E X E C U T E</a:t>
            </a:r>
            <a:endParaRPr lang="en-US" sz="100" dirty="0"/>
          </a:p>
        </p:txBody>
      </p:sp>
      <p:sp>
        <p:nvSpPr>
          <p:cNvPr id="28" name="Text 23"/>
          <p:cNvSpPr/>
          <p:nvPr/>
        </p:nvSpPr>
        <p:spPr>
          <a:xfrm>
            <a:off x="8631936" y="4572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안에서 실행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8631936" y="5120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대신 한 화면 안에서 운영·소통·결과 확인. 사람 시간 대신 소프트웨어 시간이 일을 한다.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EVIDENCE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이미 작동하고 있는 모델.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→ 미국 아마존 K-Beauty 브랜드 사례 — 한 달 통합 채널 플랜.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572000" cy="406908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 ·  ANONYMIZED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한국 K-Beauty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Amazon US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$386K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776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매출 타깃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34–40%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43708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도달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892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+53K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743200" y="49651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 외부 세션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54864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2.04 → 2.67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43200" y="55595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ROAS 개선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49240" y="2194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한 달 안에 한 일</a:t>
            </a:r>
            <a:endParaRPr lang="en-US" sz="16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278892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760720" y="2743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760720" y="30632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ROAS·tACoS·CVR·세션·오가닉 비중을 30일+9일 실측 베이스라인으로 정량화</a:t>
            </a:r>
            <a:endParaRPr lang="en-US" sz="11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365760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760720" y="36118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갭 분석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760720" y="39319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Ads로 도달 가능한 영역과 목표의 차이를 보수/중립/낙관 3시나리오로 분해</a:t>
            </a:r>
            <a:endParaRPr lang="en-US" sz="115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4526280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760720" y="44805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760720" y="480060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매체(Meta·TikTok 시딩), DSP Phase 1 리타겟팅, ASIN별 PDP·A+ 진단까지 통합 액션</a:t>
            </a:r>
            <a:endParaRPr lang="en-US" sz="115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3949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760720" y="53492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분배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760720" y="56692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DRI / 우리 DRI 명확히 구분된 체크리스트 — 누가 무엇을 결정해야 하는지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CORE INSIGHT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문서가 곧 제품이다.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한 장의 통합 플랜 문서를 만드는 것 — 그게 우리가 파는 outcome이다.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4864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20시간 × 1개 브랜드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수집·정리 — 4시간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모델링 — 4시간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ASIN별 PDP·소재 진단 — 5시간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 작성·정렬 — 3시간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미팅·수정 — 4시간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3977640"/>
            <a:ext cx="365760" cy="365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492240" y="2331720"/>
            <a:ext cx="5212080" cy="36576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내일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66560" y="2834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 4시간 × </a:t>
            </a:r>
            <a:pPr indent="0" marL="0">
              <a:buNone/>
            </a:pPr>
            <a:r>
              <a:rPr lang="en-US" sz="2200" b="1" i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100개</a:t>
            </a:r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브랜드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766560" y="35204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수집·정리 — 자동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모델링 — 자동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 PDP·소재 1차 진단 — 자동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 초안 — 자동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AM은 통찰·고객 결정만 담당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사업의 본질 질문 = "이 문서를 만드는 사람 시간의 몇 %를 소프트웨어로 옮길 수 있는가"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OPERATING MODEL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개의 레이어.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위에서 아래로 흐르고, 아래에서 위로 다시 학습한다.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68680" cy="11430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688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Diagnosis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0876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브랜드·제품 단위 현 상태를 정량 측정하고 다음 90일의 성장 병목을 식별한다.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산출: 통합 진단 리포트 (무료 또는 저가 진입점)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68680" cy="11430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947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Prescription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08760" y="4114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단계별 처방을 모듈형 Agent 카탈로그에서 조합한다. AMC, DSP, RTB, 시딩, Creative, AMC Custom.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508760" y="4526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산출: 고객이 켠 Agent만 과금되는 추천 패키지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983480"/>
            <a:ext cx="868680" cy="114300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120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55321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4983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508760" y="54406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안에서 실제 운영이 일어나고, 결과는 다시 L1으로 피드백된다. 사람은 통찰과 결정에만 개입.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5087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산출: 운영 데이터 자산 누적 → moat 강화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CUSTOMER JOURNEY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고객이 들어와서 자라는 길.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 진단 → 모듈 조합 → 상담 → 솔루션 실행 → 엔터프라이즈 확장.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2157984" cy="3657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2157984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무료 진단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버전의 진단 모델로 현 상태·병목·추천 처방을 자동 생성. 회원가입 → 데이터 연결 → 결과.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4069080"/>
            <a:ext cx="146304" cy="146304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2752344" y="2331720"/>
            <a:ext cx="2157984" cy="3657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52344" y="2331720"/>
            <a:ext cx="2157984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80944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980944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모듈 조합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980944" y="370332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에이전시 서비스와 Agent들이 아이콘으로 펼쳐진 카탈로그. 고객이 직관적으로 조합·견적.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4069080"/>
            <a:ext cx="146304" cy="14630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047488" y="2331720"/>
            <a:ext cx="2157984" cy="3657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47488" y="2331720"/>
            <a:ext cx="2157984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76088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276088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PSM 상담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276088" y="370332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조합된 견적 기반으로 PSM이 투입. 사람 개입은 "결정" 단계로 한정. 작은 건은 자동 클로징.</a:t>
            </a:r>
            <a:endParaRPr lang="en-US" sz="11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336" y="4069080"/>
            <a:ext cx="146304" cy="146304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7342632" y="2331720"/>
            <a:ext cx="2157984" cy="3657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342632" y="2331720"/>
            <a:ext cx="2157984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571232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7571232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실행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7571232" y="370332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Ads 세팅, 캠페인 운영, 리포트, 소통까지 한 화면 안에서. Slack 의존을 제거.</a:t>
            </a:r>
            <a:endParaRPr lang="en-US" sz="11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4069080"/>
            <a:ext cx="146304" cy="146304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9637776" y="2331720"/>
            <a:ext cx="2157984" cy="36576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9637776" y="2331720"/>
            <a:ext cx="2157984" cy="7315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866376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9866376" y="2834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엔터프라이즈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9866376" y="3703320"/>
            <a:ext cx="1828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일정 spend·복잡도를 넘으면 전담 팀·맞춤 SLA·custom agent 개발이 가능한 상위 plan으로 graduation.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사람 개입은 "고객 결정"이 필요한 순간으로 한정한다. 그 외 모든 흐름은 소프트웨어가 채운다.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THE REAL BOTTLENECK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진짜 병목은 커뮤니케이션이다.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운영보다 "운영을 설명하는 일"이 더 많은 시간을 잡아먹는다.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97480" cy="274320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5146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152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주간 리포트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31520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고객마다 다른 포맷, 같은 내용 반복 작성.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4434840"/>
            <a:ext cx="2286000" cy="1828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4–6h / 고객 / 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319272" y="2286000"/>
            <a:ext cx="2697480" cy="274320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25146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93592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MBR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593592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월간 리뷰 데크 — 30–50p, 매월 처음부터.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593592" y="4434840"/>
            <a:ext cx="2286000" cy="1828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93592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8–16h / 고객 / 월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6181344" y="2286000"/>
            <a:ext cx="2697480" cy="274320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51460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 응대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55664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단순 확인부터 전략 의사결정까지 무차별.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55664" y="4434840"/>
            <a:ext cx="2286000" cy="1828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55664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1–2h / 고객 / 일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9043416" y="2286000"/>
            <a:ext cx="2697480" cy="2743200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51460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17736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임시 미팅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9317736" y="34290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"잠깐 통화"가 매주 누적된다.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9317736" y="4434840"/>
            <a:ext cx="2286000" cy="1828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9317736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2–4h / 고객 / 주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0080" y="5394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1명이 관리 가능한 브랜드: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5–8개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400" b="1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30–50개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확장의 진짜 잠금장치는 여기다.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OPS RE-ARCHITECTED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Slack을 솔루션으로 옮긴다.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응대가 아니라, 한 화면 안에서 운영·소통·결과가 같이 산다.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48640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·  분산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도구 5개, 사람 1명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— 일상 소통·요청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— 진척·리포트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— 전략 문서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— 공식 confirmation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머릿속 — 맥락·히스토리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486400" cy="393192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468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·  통합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788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화면, 자동 흐름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92240" y="338328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세팅·관리 UI — 직접 운영 가능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생성 리포트·MBR — 클릭 한 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결정 요청은 in-app card로 정리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맥락·히스토리는 자동 누적 (사람 의존 ↓)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응대는 "통찰" 영역에만 한정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416052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PRODUCT ARCHITECTURE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제품 구조.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엔진 위에 모듈형 Agent들이 켜졌다 꺼진다. 그 위에 솔루션·인간 layer.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1247120" cy="77724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진단 · 병목 식별 · 처방 추천  —  무료 진입점, 데이터 자산 누적의 시작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CATALOG  ·  처방 단위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6118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10972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675888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972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Insight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질의 · custom audience 정의 · 도달 미달 영역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233672" y="3474720"/>
            <a:ext cx="36118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33672" y="3474720"/>
            <a:ext cx="54864" cy="10972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367588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73752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DSP Audience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73752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 viewer · category viewer · brand searcher · lookalike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010144" y="3474720"/>
            <a:ext cx="36118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10144" y="3474720"/>
            <a:ext cx="54864" cy="10972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4" y="367588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50224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RTB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650224" y="3977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Ads bid · budget · keyword 자동화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457200" y="4709160"/>
            <a:ext cx="36118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7200" y="4709160"/>
            <a:ext cx="54864" cy="10972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910328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97280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1097280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TikTok·Meta 인플루언서 매칭 · 후행지표 검증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4233672" y="4709160"/>
            <a:ext cx="36118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233672" y="4709160"/>
            <a:ext cx="54864" cy="10972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4910328"/>
            <a:ext cx="292608" cy="29260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73752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500" dirty="0"/>
          </a:p>
        </p:txBody>
      </p:sp>
      <p:sp>
        <p:nvSpPr>
          <p:cNvPr id="37" name="Text 30"/>
          <p:cNvSpPr/>
          <p:nvPr/>
        </p:nvSpPr>
        <p:spPr>
          <a:xfrm>
            <a:off x="4873752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· PDP · 썸네일 진단 · cannibalization 탐지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8010144" y="4709160"/>
            <a:ext cx="3611880" cy="109728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010144" y="4709160"/>
            <a:ext cx="54864" cy="10972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4" y="4910328"/>
            <a:ext cx="292608" cy="29260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650224" y="4846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Designer</a:t>
            </a:r>
            <a:endParaRPr lang="en-US" sz="1500" dirty="0"/>
          </a:p>
        </p:txBody>
      </p:sp>
      <p:sp>
        <p:nvSpPr>
          <p:cNvPr id="42" name="Text 34"/>
          <p:cNvSpPr/>
          <p:nvPr/>
        </p:nvSpPr>
        <p:spPr>
          <a:xfrm>
            <a:off x="8650224" y="5212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구조 재설계 · 신규 ASIN 런칭 · 시즌 플랜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Solution UI · PSM · Enterprise 확장은 위 두 레이어 위에서 자연스럽게 형성된다.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PRICING PHILOSOPHY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가격은 정하지 말고 발견한다.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시장이 전환기인 지금, 정답을 결정하려 하지 말고 정답을 측정한다.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1188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진단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3108960" cy="18288"/>
          </a:xfrm>
          <a:prstGeom prst="rect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319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퍼블릭 진단 모델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데이터 연결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 추천까지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획득 비용 ≈ 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데이터 자산화의 출발점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33672" y="2331720"/>
            <a:ext cx="3611880" cy="393192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07992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모듈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07992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처방 단위 과금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07992" y="3794760"/>
            <a:ext cx="3108960" cy="18288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39319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 / DSP / RTB / 시딩 등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켠 만큼만 청구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Agent별 standalone 가격 + 번들 할인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고객이 본인 단계만큼 결제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07992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1에서 가격 A/B 테스트로 모델 확정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10144" y="2331720"/>
            <a:ext cx="361188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84464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84464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엔터프라이즈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84464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5A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전담·맞춤·SLA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4464" y="3794760"/>
            <a:ext cx="3108960" cy="18288"/>
          </a:xfrm>
          <a:prstGeom prst="rect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4464" y="393192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전담 PSM·운영팀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Agent 개발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광고비 % 또는 정액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triggered by spend·복잡도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84464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브랜드·다국가·복합 카테고리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THE WEDGE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첫 쐐기는 좁고 날카롭게.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"한국 → 미국 아마존 K-Brand의 월간 통합 플랜 자동화" 한 곳에서 시작한다.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548640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정확한 segment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3063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한국에서 미국 진출 중인 K-Beauty·K-Brand. 패턴이 반복되어 표준화 가능.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80760" y="2377440"/>
            <a:ext cx="548640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5176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26060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결과물이 명확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995160" y="30632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달 단위 통합 플랜 — 진단·시나리오·체크리스트가 한 문서로 떨어진다.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4160520"/>
            <a:ext cx="548640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3484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기준 명확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71600" y="4846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이런 플랜을 컨설팅으로 받으면 월 수백만 원. 우리 가격이 자동 정당화된다.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080760" y="4160520"/>
            <a:ext cx="5486400" cy="160020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434840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9516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누적 빠름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995160" y="484632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브랜드 → 미국 vertical 데이터가 한 곳에 쌓일수록 진단 정확도 ↑↑.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5989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그 다음 vertical은 데이터가 정한다 (성숙기 미국 브랜드 / 카테고리 확장 / 신규 셀러).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MOAT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AI는 따라잡힌다. 운영 자산은 안 따라잡힌다.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진짜 moat는 모델이 아니라 누적된 운영 자산이다.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45059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359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templates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0" y="235915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 viewer · category viewer · brand searcher · custom AMC audience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999232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6382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8720" y="3072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library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30723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수백 개의 AMC SQL · 자연어 → SQL 변환 학습 데이터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3712464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77056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7856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dataset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4572000" y="378561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카테고리·단계별 CVR·ROAS·tACoS 분포 — 진단의 기준선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4425696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902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4498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playbook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572000" y="44988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조회수 → 브랜드 쿼리 → 전환 후행지표 검증 프레임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5138928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30352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88720" y="5212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patterns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212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BFCM·Prime Day·신제품 런칭 시즌별 검증된 운영 시퀀스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매 진단·매 처방이 다음 진단·처방을 더 정확하게 만든다. 시간이 우리 편이 되는 구조.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90-DAY PLAN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90일.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"제품 만들고 영업하자"가 아니다. 가설을 측정 가능한 단위로 쪼개서 검증한다.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61188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K-Brand 5곳에 진단 리포트 수동 제작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진단 항목이 자동화 가능한지 매핑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리포트 작성 시간 측정 (baseline)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5440680"/>
            <a:ext cx="3017520" cy="18288"/>
          </a:xfrm>
          <a:prstGeom prst="rect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5779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진단 모듈을 첫 자동화 대상으로?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33672" y="2331720"/>
            <a:ext cx="3611880" cy="3931920"/>
          </a:xfrm>
          <a:prstGeom prst="rect">
            <a:avLst/>
          </a:prstGeom>
          <a:solidFill>
            <a:srgbClr val="0B1733"/>
          </a:solidFill>
          <a:ln w="12700">
            <a:solidFill>
              <a:srgbClr val="0B1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07992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7992" y="3749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모듈 v0.1 (자동화 30% 목표)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후보 1개 prototype (AMC 1순위)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A/B: flat vs % of spend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07992" y="5440680"/>
            <a:ext cx="3017520" cy="18288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2B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07992" y="5779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PMF 신호 충분한 첫 vertical 확정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10144" y="2331720"/>
            <a:ext cx="3611880" cy="3931920"/>
          </a:xfrm>
          <a:prstGeom prst="rect">
            <a:avLst/>
          </a:prstGeom>
          <a:solidFill>
            <a:srgbClr val="F4F6FB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4464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84464" y="2834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84464" y="3474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84464" y="3749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전환 3개 브랜드 목표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1명당 관리 가능 브랜드 수 측정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50" dirty="0">
                <a:solidFill>
                  <a:srgbClr val="3945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엔터프라이즈 conversion path 1건 검증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84464" y="5440680"/>
            <a:ext cx="3017520" cy="18288"/>
          </a:xfrm>
          <a:prstGeom prst="rect">
            <a:avLst/>
          </a:prstGeom>
          <a:solidFill>
            <a:srgbClr val="DDE3EE"/>
          </a:solidFill>
          <a:ln w="12700">
            <a:solidFill>
              <a:srgbClr val="DD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84464" y="5532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84464" y="5779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B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자금 조달 시점·규모 판단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01168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WHAT WE NEED TO ALIGN 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137160" cy="13716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373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DECK  ·  TEAM ALIGN  ·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373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아직 정해지지 않은 것들.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deck의 마지막 슬라이드는 답이 아니라 질문이다. 같이 결정해야 align이 끝난다.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6035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3591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3591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범위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234086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K-Brand → 미국 아마존만으로 6개월 갈 것인가, 아니면 미국 셀러까지 확장할 것인가.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99232"/>
            <a:ext cx="73152" cy="6035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7238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072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처방의 깊이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0" y="30540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어디까지를 AI가 처방하고, 어디부터 인간 PSM이 개입하는가. 시딩·창의 영역은 인간을 더 오래 둘 것인가.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12464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712464"/>
            <a:ext cx="73152" cy="6035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7856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785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 모델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0" y="376732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Agent별 standalone · 광고비 % · hybrid 중 어느 것을 default로? Phase 1 A/B로 답을 찾되 운영 가능한 만큼만 동시 테스트.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425696"/>
            <a:ext cx="73152" cy="6035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98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498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솔루션 vs 사람 균형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0" y="44805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Slack을 솔루션으로 옮기는 비율을 어디까지 끌어올릴 것인가. 너무 빠르면 churn, 너무 느리면 확장 불가.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138928"/>
            <a:ext cx="11247120" cy="603504"/>
          </a:xfrm>
          <a:prstGeom prst="rect">
            <a:avLst/>
          </a:prstGeom>
          <a:solidFill>
            <a:srgbClr val="1A2847"/>
          </a:solidFill>
          <a:ln w="12700">
            <a:solidFill>
              <a:srgbClr val="1A284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5138928"/>
            <a:ext cx="73152" cy="6035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212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B5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5212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역할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572000" y="51937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Engine · Agent Catalog · Solution UI · Sales / CS — 누가 어느 영역을 책임지는가.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다섯 개에 답이 나오면, 우리는 같은 회사를 짓고 있는 것이다.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Deck — Team Align</dc:title>
  <dc:subject>PptxGenJS Presentation</dc:subject>
  <dc:creator>PptxGenJS</dc:creator>
  <cp:lastModifiedBy>PptxGenJS</cp:lastModifiedBy>
  <cp:revision>1</cp:revision>
  <dcterms:created xsi:type="dcterms:W3CDTF">2026-05-21T13:59:40Z</dcterms:created>
  <dcterms:modified xsi:type="dcterms:W3CDTF">2026-05-21T13:59:40Z</dcterms:modified>
</cp:coreProperties>
</file>